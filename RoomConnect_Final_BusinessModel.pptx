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4"/>
    <p:restoredTop sz="94610"/>
  </p:normalViewPr>
  <p:slideViewPr>
    <p:cSldViewPr snapToGrid="0" snapToObjects="1">
      <p:cViewPr>
        <p:scale>
          <a:sx n="60" d="100"/>
          <a:sy n="60" d="100"/>
        </p:scale>
        <p:origin x="924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4540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BA7E0-1409-7FEE-68A5-163F43D8C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77E568-9367-DE23-4E7C-FA8A2E7727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825243-79E0-63DA-5663-AC42A8B70F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D7BC53-05D9-B399-EEB2-BCA6C454D9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6406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lswi-virt3.ku.de/dbmt_team_two/DBMT_Project/index.html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oomconnect/assets/hero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92608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0FA396"/>
          </a:solidFill>
          <a:ln/>
        </p:spPr>
        <p:txBody>
          <a:bodyPr/>
          <a:lstStyle/>
          <a:p>
            <a:endParaRPr lang="ru-DE"/>
          </a:p>
        </p:txBody>
      </p:sp>
      <p:sp>
        <p:nvSpPr>
          <p:cNvPr id="4" name="Text 1"/>
          <p:cNvSpPr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59536" y="2926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RoomConnect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3154680" cy="384048"/>
          </a:xfrm>
          <a:prstGeom prst="roundRect">
            <a:avLst>
              <a:gd name="adj" fmla="val 50000"/>
            </a:avLst>
          </a:prstGeom>
          <a:solidFill>
            <a:srgbClr val="D6EEEA"/>
          </a:solidFill>
          <a:ln/>
        </p:spPr>
        <p:txBody>
          <a:bodyPr/>
          <a:lstStyle/>
          <a:p>
            <a:endParaRPr lang="ru-DE"/>
          </a:p>
        </p:txBody>
      </p:sp>
      <p:sp>
        <p:nvSpPr>
          <p:cNvPr id="7" name="Text 4"/>
          <p:cNvSpPr/>
          <p:nvPr/>
        </p:nvSpPr>
        <p:spPr>
          <a:xfrm>
            <a:off x="502920" y="13716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KU &amp; THI student network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1874520"/>
            <a:ext cx="5806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163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 compatible student roommate in Ingolstadt.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02920" y="397764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RoomConnect helps verified KU and THI students find better shared housing through one clear journey: verification, quiz, roommate acceptance, shared room selection, and landlord approval.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5349240"/>
            <a:ext cx="3063240" cy="502920"/>
          </a:xfrm>
          <a:prstGeom prst="roundRect">
            <a:avLst>
              <a:gd name="adj" fmla="val 21818"/>
            </a:avLst>
          </a:prstGeom>
          <a:solidFill>
            <a:srgbClr val="0FA396"/>
          </a:solidFill>
          <a:ln/>
          <a:effectLst>
            <a:outerShdw blurRad="152400" dist="38100" dir="5400000" algn="bl" rotWithShape="0">
              <a:srgbClr val="9FB6BC">
                <a:alpha val="35000"/>
              </a:srgbClr>
            </a:outerShdw>
          </a:effectLst>
        </p:spPr>
        <p:txBody>
          <a:bodyPr/>
          <a:lstStyle/>
          <a:p>
            <a:endParaRPr lang="ru-DE"/>
          </a:p>
        </p:txBody>
      </p:sp>
      <p:sp>
        <p:nvSpPr>
          <p:cNvPr id="11" name="Text 8"/>
          <p:cNvSpPr/>
          <p:nvPr/>
        </p:nvSpPr>
        <p:spPr>
          <a:xfrm>
            <a:off x="502920" y="53492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&amp; live demo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2920" y="59893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Business Models  ·  Group 2  ·  SS 2026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812280" y="868680"/>
            <a:ext cx="4892040" cy="5257800"/>
          </a:xfrm>
          <a:prstGeom prst="roundRect">
            <a:avLst>
              <a:gd name="adj" fmla="val 3364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9FB6BC">
                <a:alpha val="35000"/>
              </a:srgbClr>
            </a:outerShdw>
          </a:effectLst>
        </p:spPr>
        <p:txBody>
          <a:bodyPr/>
          <a:lstStyle/>
          <a:p>
            <a:endParaRPr lang="ru-DE"/>
          </a:p>
        </p:txBody>
      </p:sp>
      <p:pic>
        <p:nvPicPr>
          <p:cNvPr id="14" name="Image 1" descr="/home/claude/roomconnect/assets/circle_sm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234440"/>
            <a:ext cx="1325880" cy="1325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23760" y="123444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7223760" y="27432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matching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7223760" y="320040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Focuses on student verification, compatibility scores and group approval instead of profile photos.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223760" y="4069080"/>
            <a:ext cx="4069080" cy="0"/>
          </a:xfrm>
          <a:prstGeom prst="line">
            <a:avLst/>
          </a:prstGeom>
          <a:noFill/>
          <a:ln w="12700">
            <a:solidFill>
              <a:srgbClr val="DFE9EC"/>
            </a:solidFill>
            <a:prstDash val="solid"/>
          </a:ln>
        </p:spPr>
        <p:txBody>
          <a:bodyPr/>
          <a:lstStyle/>
          <a:p>
            <a:endParaRPr lang="ru-DE"/>
          </a:p>
        </p:txBody>
      </p:sp>
      <p:sp>
        <p:nvSpPr>
          <p:cNvPr id="19" name="Text 15"/>
          <p:cNvSpPr/>
          <p:nvPr/>
        </p:nvSpPr>
        <p:spPr>
          <a:xfrm>
            <a:off x="7223760" y="41422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3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Verification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10149840" y="414223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63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KU/THI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7223760" y="4690872"/>
            <a:ext cx="4069080" cy="0"/>
          </a:xfrm>
          <a:prstGeom prst="line">
            <a:avLst/>
          </a:prstGeom>
          <a:noFill/>
          <a:ln w="12700">
            <a:solidFill>
              <a:srgbClr val="DFE9EC"/>
            </a:solidFill>
            <a:prstDash val="solid"/>
          </a:ln>
        </p:spPr>
        <p:txBody>
          <a:bodyPr/>
          <a:lstStyle/>
          <a:p>
            <a:endParaRPr lang="ru-DE"/>
          </a:p>
        </p:txBody>
      </p:sp>
      <p:sp>
        <p:nvSpPr>
          <p:cNvPr id="22" name="Text 18"/>
          <p:cNvSpPr/>
          <p:nvPr/>
        </p:nvSpPr>
        <p:spPr>
          <a:xfrm>
            <a:off x="7223760" y="476402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3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Quiz and mutual match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10149840" y="476402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63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7223760" y="5312664"/>
            <a:ext cx="4069080" cy="0"/>
          </a:xfrm>
          <a:prstGeom prst="line">
            <a:avLst/>
          </a:prstGeom>
          <a:noFill/>
          <a:ln w="12700">
            <a:solidFill>
              <a:srgbClr val="DFE9EC"/>
            </a:solidFill>
            <a:prstDash val="solid"/>
          </a:ln>
        </p:spPr>
        <p:txBody>
          <a:bodyPr/>
          <a:lstStyle/>
          <a:p>
            <a:endParaRPr lang="ru-DE"/>
          </a:p>
        </p:txBody>
      </p:sp>
      <p:sp>
        <p:nvSpPr>
          <p:cNvPr id="25" name="Text 21"/>
          <p:cNvSpPr/>
          <p:nvPr/>
        </p:nvSpPr>
        <p:spPr>
          <a:xfrm>
            <a:off x="7223760" y="53858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3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Reserve shared room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10149840" y="538581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63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0FA396"/>
          </a:solidFill>
          <a:ln/>
        </p:spPr>
        <p:txBody>
          <a:bodyPr/>
          <a:lstStyle/>
          <a:p>
            <a:endParaRPr lang="ru-DE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59536" y="2926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RoomConnect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model at a glance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students, compatibility-based matching and a freemium model with B2B revenue.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185416" cy="1737360"/>
          </a:xfrm>
          <a:prstGeom prst="roundRect">
            <a:avLst>
              <a:gd name="adj" fmla="val 6316"/>
            </a:avLst>
          </a:prstGeom>
          <a:solidFill>
            <a:srgbClr val="F1F9F9"/>
          </a:solidFill>
          <a:ln w="9525">
            <a:solidFill>
              <a:srgbClr val="DFE9EC"/>
            </a:solidFill>
            <a:prstDash val="solid"/>
          </a:ln>
        </p:spPr>
        <p:txBody>
          <a:bodyPr/>
          <a:lstStyle/>
          <a:p>
            <a:endParaRPr lang="ru-DE"/>
          </a:p>
        </p:txBody>
      </p:sp>
      <p:sp>
        <p:nvSpPr>
          <p:cNvPr id="8" name="Shape 6"/>
          <p:cNvSpPr/>
          <p:nvPr/>
        </p:nvSpPr>
        <p:spPr>
          <a:xfrm>
            <a:off x="1376172" y="1947672"/>
            <a:ext cx="347472" cy="347472"/>
          </a:xfrm>
          <a:prstGeom prst="ellipse">
            <a:avLst/>
          </a:prstGeom>
          <a:solidFill>
            <a:srgbClr val="0FA396"/>
          </a:solidFill>
          <a:ln/>
        </p:spPr>
        <p:txBody>
          <a:bodyPr/>
          <a:lstStyle/>
          <a:p>
            <a:endParaRPr lang="ru-DE"/>
          </a:p>
        </p:txBody>
      </p:sp>
      <p:sp>
        <p:nvSpPr>
          <p:cNvPr id="9" name="Text 7"/>
          <p:cNvSpPr/>
          <p:nvPr/>
        </p:nvSpPr>
        <p:spPr>
          <a:xfrm>
            <a:off x="1376172" y="1947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" y="2350008"/>
            <a:ext cx="203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3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85216" y="2697480"/>
            <a:ext cx="1929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verified KU &amp; THI student emails can start.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61488" y="1783080"/>
            <a:ext cx="2185416" cy="1737360"/>
          </a:xfrm>
          <a:prstGeom prst="roundRect">
            <a:avLst>
              <a:gd name="adj" fmla="val 6316"/>
            </a:avLst>
          </a:prstGeom>
          <a:solidFill>
            <a:srgbClr val="F1F9F9"/>
          </a:solidFill>
          <a:ln w="9525">
            <a:solidFill>
              <a:srgbClr val="DFE9EC"/>
            </a:solidFill>
            <a:prstDash val="solid"/>
          </a:ln>
        </p:spPr>
        <p:txBody>
          <a:bodyPr/>
          <a:lstStyle/>
          <a:p>
            <a:endParaRPr lang="ru-DE"/>
          </a:p>
        </p:txBody>
      </p:sp>
      <p:sp>
        <p:nvSpPr>
          <p:cNvPr id="13" name="Shape 11"/>
          <p:cNvSpPr/>
          <p:nvPr/>
        </p:nvSpPr>
        <p:spPr>
          <a:xfrm>
            <a:off x="3680460" y="1947672"/>
            <a:ext cx="347472" cy="347472"/>
          </a:xfrm>
          <a:prstGeom prst="ellipse">
            <a:avLst/>
          </a:prstGeom>
          <a:solidFill>
            <a:srgbClr val="0FA396"/>
          </a:solidFill>
          <a:ln/>
        </p:spPr>
        <p:txBody>
          <a:bodyPr/>
          <a:lstStyle/>
          <a:p>
            <a:endParaRPr lang="ru-DE"/>
          </a:p>
        </p:txBody>
      </p:sp>
      <p:sp>
        <p:nvSpPr>
          <p:cNvPr id="14" name="Text 12"/>
          <p:cNvSpPr/>
          <p:nvPr/>
        </p:nvSpPr>
        <p:spPr>
          <a:xfrm>
            <a:off x="3680460" y="1947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34640" y="2350008"/>
            <a:ext cx="203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3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889504" y="2697480"/>
            <a:ext cx="1929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 data creates fairer matches.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65776" y="1783080"/>
            <a:ext cx="2185416" cy="1737360"/>
          </a:xfrm>
          <a:prstGeom prst="roundRect">
            <a:avLst>
              <a:gd name="adj" fmla="val 6316"/>
            </a:avLst>
          </a:prstGeom>
          <a:solidFill>
            <a:srgbClr val="F1F9F9"/>
          </a:solidFill>
          <a:ln w="9525">
            <a:solidFill>
              <a:srgbClr val="DFE9EC"/>
            </a:solidFill>
            <a:prstDash val="solid"/>
          </a:ln>
        </p:spPr>
        <p:txBody>
          <a:bodyPr/>
          <a:lstStyle/>
          <a:p>
            <a:endParaRPr lang="ru-DE"/>
          </a:p>
        </p:txBody>
      </p:sp>
      <p:sp>
        <p:nvSpPr>
          <p:cNvPr id="18" name="Shape 16"/>
          <p:cNvSpPr/>
          <p:nvPr/>
        </p:nvSpPr>
        <p:spPr>
          <a:xfrm>
            <a:off x="5984748" y="1947672"/>
            <a:ext cx="347472" cy="347472"/>
          </a:xfrm>
          <a:prstGeom prst="ellipse">
            <a:avLst/>
          </a:prstGeom>
          <a:solidFill>
            <a:srgbClr val="0FA396"/>
          </a:solidFill>
          <a:ln/>
        </p:spPr>
        <p:txBody>
          <a:bodyPr/>
          <a:lstStyle/>
          <a:p>
            <a:endParaRPr lang="ru-DE"/>
          </a:p>
        </p:txBody>
      </p:sp>
      <p:sp>
        <p:nvSpPr>
          <p:cNvPr id="19" name="Text 17"/>
          <p:cNvSpPr/>
          <p:nvPr/>
        </p:nvSpPr>
        <p:spPr>
          <a:xfrm>
            <a:off x="5984748" y="1947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38928" y="2350008"/>
            <a:ext cx="203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3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acceptance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193792" y="2697480"/>
            <a:ext cx="1929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students agree before moving 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70064" y="1783080"/>
            <a:ext cx="2185416" cy="1737360"/>
          </a:xfrm>
          <a:prstGeom prst="roundRect">
            <a:avLst>
              <a:gd name="adj" fmla="val 6316"/>
            </a:avLst>
          </a:prstGeom>
          <a:solidFill>
            <a:srgbClr val="F1F9F9"/>
          </a:solidFill>
          <a:ln w="9525">
            <a:solidFill>
              <a:srgbClr val="DFE9EC"/>
            </a:solidFill>
            <a:prstDash val="solid"/>
          </a:ln>
        </p:spPr>
        <p:txBody>
          <a:bodyPr/>
          <a:lstStyle/>
          <a:p>
            <a:endParaRPr lang="ru-DE"/>
          </a:p>
        </p:txBody>
      </p:sp>
      <p:sp>
        <p:nvSpPr>
          <p:cNvPr id="23" name="Shape 21"/>
          <p:cNvSpPr/>
          <p:nvPr/>
        </p:nvSpPr>
        <p:spPr>
          <a:xfrm>
            <a:off x="8289036" y="1947672"/>
            <a:ext cx="347472" cy="347472"/>
          </a:xfrm>
          <a:prstGeom prst="ellipse">
            <a:avLst/>
          </a:prstGeom>
          <a:solidFill>
            <a:srgbClr val="0FA396"/>
          </a:solidFill>
          <a:ln/>
        </p:spPr>
        <p:txBody>
          <a:bodyPr/>
          <a:lstStyle/>
          <a:p>
            <a:endParaRPr lang="ru-DE"/>
          </a:p>
        </p:txBody>
      </p:sp>
      <p:sp>
        <p:nvSpPr>
          <p:cNvPr id="24" name="Text 22"/>
          <p:cNvSpPr/>
          <p:nvPr/>
        </p:nvSpPr>
        <p:spPr>
          <a:xfrm>
            <a:off x="8289036" y="1947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43216" y="2350008"/>
            <a:ext cx="203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3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selection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498080" y="2697480"/>
            <a:ext cx="1929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pair chooses a shared room together.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74352" y="1783080"/>
            <a:ext cx="2185416" cy="1737360"/>
          </a:xfrm>
          <a:prstGeom prst="roundRect">
            <a:avLst>
              <a:gd name="adj" fmla="val 6316"/>
            </a:avLst>
          </a:prstGeom>
          <a:solidFill>
            <a:srgbClr val="F1F9F9"/>
          </a:solidFill>
          <a:ln w="9525">
            <a:solidFill>
              <a:srgbClr val="DFE9EC"/>
            </a:solidFill>
            <a:prstDash val="solid"/>
          </a:ln>
        </p:spPr>
        <p:txBody>
          <a:bodyPr/>
          <a:lstStyle/>
          <a:p>
            <a:endParaRPr lang="ru-DE"/>
          </a:p>
        </p:txBody>
      </p:sp>
      <p:sp>
        <p:nvSpPr>
          <p:cNvPr id="28" name="Shape 26"/>
          <p:cNvSpPr/>
          <p:nvPr/>
        </p:nvSpPr>
        <p:spPr>
          <a:xfrm>
            <a:off x="10593324" y="1947672"/>
            <a:ext cx="347472" cy="347472"/>
          </a:xfrm>
          <a:prstGeom prst="ellipse">
            <a:avLst/>
          </a:prstGeom>
          <a:solidFill>
            <a:srgbClr val="0FA396"/>
          </a:solidFill>
          <a:ln/>
        </p:spPr>
        <p:txBody>
          <a:bodyPr/>
          <a:lstStyle/>
          <a:p>
            <a:endParaRPr lang="ru-DE"/>
          </a:p>
        </p:txBody>
      </p:sp>
      <p:sp>
        <p:nvSpPr>
          <p:cNvPr id="29" name="Text 27"/>
          <p:cNvSpPr/>
          <p:nvPr/>
        </p:nvSpPr>
        <p:spPr>
          <a:xfrm>
            <a:off x="10593324" y="1947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747504" y="2350008"/>
            <a:ext cx="203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3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Landlord approval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802368" y="2697480"/>
            <a:ext cx="1929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verified 2-student group is accepted.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794760"/>
            <a:ext cx="5500116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9FB6BC">
                <a:alpha val="35000"/>
              </a:srgbClr>
            </a:outerShdw>
          </a:effectLst>
        </p:spPr>
        <p:txBody>
          <a:bodyPr/>
          <a:lstStyle/>
          <a:p>
            <a:endParaRPr lang="ru-DE"/>
          </a:p>
        </p:txBody>
      </p:sp>
      <p:sp>
        <p:nvSpPr>
          <p:cNvPr id="33" name="Text 31"/>
          <p:cNvSpPr/>
          <p:nvPr/>
        </p:nvSpPr>
        <p:spPr>
          <a:xfrm>
            <a:off x="731520" y="4023360"/>
            <a:ext cx="49514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RoomConnect creates value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31520" y="4434840"/>
            <a:ext cx="49514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Compatibility scores based on lifestyle preferences — not budget alone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for new users: university e-mail verification and verified profiles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 acceptance before any shared room is reserved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irrelevant applications and less search effort for WG residents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31636" y="3794760"/>
            <a:ext cx="5500116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9FB6BC">
                <a:alpha val="35000"/>
              </a:srgbClr>
            </a:outerShdw>
          </a:effectLst>
        </p:spPr>
        <p:txBody>
          <a:bodyPr/>
          <a:lstStyle/>
          <a:p>
            <a:endParaRPr lang="ru-DE"/>
          </a:p>
        </p:txBody>
      </p:sp>
      <p:sp>
        <p:nvSpPr>
          <p:cNvPr id="36" name="Text 34"/>
          <p:cNvSpPr/>
          <p:nvPr/>
        </p:nvSpPr>
        <p:spPr>
          <a:xfrm>
            <a:off x="6505956" y="4023360"/>
            <a:ext cx="49514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RoomConnect captures value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505956" y="4434840"/>
            <a:ext cx="49514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Freemium: core features free for every verified student — profile, quiz, basic matches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€5.99/mo — be seen more: profile boost and priority visibility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— see more: unlimited matches &amp; chats, advanced lifestyle filters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stage: commission from housing providers · secondary: partner ads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7200" y="62636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0B5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strategy: </a:t>
            </a:r>
            <a:r>
              <a:rPr lang="en-US" sz="1250" i="1" dirty="0">
                <a:solidFill>
                  <a:srgbClr val="0B5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in Ingolstadt at semester start — onboard existing WGs first, so new students see real value from day one.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0FA396"/>
          </a:solidFill>
          <a:ln/>
        </p:spPr>
        <p:txBody>
          <a:bodyPr/>
          <a:lstStyle/>
          <a:p>
            <a:endParaRPr lang="ru-DE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59536" y="2926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RoomConnect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Canvas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0" y="749808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RoomConnect  ·  Group 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2196389" cy="3520440"/>
          </a:xfrm>
          <a:prstGeom prst="roundRect">
            <a:avLst>
              <a:gd name="adj" fmla="val 3747"/>
            </a:avLst>
          </a:prstGeom>
          <a:solidFill>
            <a:srgbClr val="FFFFFF"/>
          </a:solidFill>
          <a:ln w="9525">
            <a:solidFill>
              <a:srgbClr val="DFE9EC"/>
            </a:solidFill>
            <a:prstDash val="solid"/>
          </a:ln>
        </p:spPr>
        <p:txBody>
          <a:bodyPr/>
          <a:lstStyle/>
          <a:p>
            <a:endParaRPr lang="ru-DE"/>
          </a:p>
        </p:txBody>
      </p:sp>
      <p:sp>
        <p:nvSpPr>
          <p:cNvPr id="8" name="Text 6"/>
          <p:cNvSpPr/>
          <p:nvPr/>
        </p:nvSpPr>
        <p:spPr>
          <a:xfrm>
            <a:off x="493776" y="1389888"/>
            <a:ext cx="19403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B5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PARTNERS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" y="1682496"/>
            <a:ext cx="1958645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Universities &amp; student unions</a:t>
            </a:r>
            <a:endParaRPr lang="en-US" sz="900" dirty="0"/>
          </a:p>
          <a:p>
            <a:pPr marL="101600" indent="-1016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Landlords &amp; housing agencies</a:t>
            </a:r>
            <a:endParaRPr lang="en-US" sz="900" dirty="0"/>
          </a:p>
          <a:p>
            <a:pPr marL="101600" indent="-1016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verification providers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81021" y="1298448"/>
            <a:ext cx="2196389" cy="1700784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9525">
            <a:solidFill>
              <a:srgbClr val="DFE9EC"/>
            </a:solidFill>
            <a:prstDash val="solid"/>
          </a:ln>
        </p:spPr>
        <p:txBody>
          <a:bodyPr/>
          <a:lstStyle/>
          <a:p>
            <a:endParaRPr lang="ru-DE"/>
          </a:p>
        </p:txBody>
      </p:sp>
      <p:sp>
        <p:nvSpPr>
          <p:cNvPr id="11" name="Text 9"/>
          <p:cNvSpPr/>
          <p:nvPr/>
        </p:nvSpPr>
        <p:spPr>
          <a:xfrm>
            <a:off x="2809037" y="1389888"/>
            <a:ext cx="19403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B5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ACTIVITIES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09037" y="1682496"/>
            <a:ext cx="1958645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algorithm optimization</a:t>
            </a:r>
            <a:endParaRPr lang="en-US" sz="900" dirty="0"/>
          </a:p>
          <a:p>
            <a:pPr marL="101600" indent="-1016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safety moderation</a:t>
            </a:r>
            <a:endParaRPr lang="en-US" sz="900" dirty="0"/>
          </a:p>
          <a:p>
            <a:pPr marL="101600" indent="-1016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&amp; account management</a:t>
            </a:r>
            <a:endParaRPr lang="en-US" sz="900" dirty="0"/>
          </a:p>
          <a:p>
            <a:pPr marL="101600" indent="-1016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&amp; landlord partnerships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81021" y="3118104"/>
            <a:ext cx="2196389" cy="1700784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9525">
            <a:solidFill>
              <a:srgbClr val="DFE9EC"/>
            </a:solidFill>
            <a:prstDash val="solid"/>
          </a:ln>
        </p:spPr>
        <p:txBody>
          <a:bodyPr/>
          <a:lstStyle/>
          <a:p>
            <a:endParaRPr lang="ru-DE"/>
          </a:p>
        </p:txBody>
      </p:sp>
      <p:sp>
        <p:nvSpPr>
          <p:cNvPr id="14" name="Text 12"/>
          <p:cNvSpPr/>
          <p:nvPr/>
        </p:nvSpPr>
        <p:spPr>
          <a:xfrm>
            <a:off x="2809037" y="3209544"/>
            <a:ext cx="19403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B5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RESOURCES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09037" y="3502152"/>
            <a:ext cx="1958645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matching algorithm</a:t>
            </a:r>
            <a:endParaRPr lang="en-US" sz="900" dirty="0"/>
          </a:p>
          <a:p>
            <a:pPr marL="101600" indent="-1016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&amp; lifestyle data</a:t>
            </a:r>
            <a:endParaRPr lang="en-US" sz="900" dirty="0"/>
          </a:p>
          <a:p>
            <a:pPr marL="101600" indent="-1016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verification system</a:t>
            </a:r>
            <a:endParaRPr lang="en-US" sz="900" dirty="0"/>
          </a:p>
          <a:p>
            <a:pPr marL="101600" indent="-1016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Housing listing database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96282" y="1298448"/>
            <a:ext cx="2196389" cy="3520440"/>
          </a:xfrm>
          <a:prstGeom prst="roundRect">
            <a:avLst>
              <a:gd name="adj" fmla="val 3747"/>
            </a:avLst>
          </a:prstGeom>
          <a:solidFill>
            <a:srgbClr val="FFFFFF"/>
          </a:solidFill>
          <a:ln w="9525">
            <a:solidFill>
              <a:srgbClr val="DFE9EC"/>
            </a:solidFill>
            <a:prstDash val="solid"/>
          </a:ln>
        </p:spPr>
        <p:txBody>
          <a:bodyPr/>
          <a:lstStyle/>
          <a:p>
            <a:endParaRPr lang="ru-DE"/>
          </a:p>
        </p:txBody>
      </p:sp>
      <p:sp>
        <p:nvSpPr>
          <p:cNvPr id="17" name="Text 15"/>
          <p:cNvSpPr/>
          <p:nvPr/>
        </p:nvSpPr>
        <p:spPr>
          <a:xfrm>
            <a:off x="5124298" y="1389888"/>
            <a:ext cx="19403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B5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24298" y="1682496"/>
            <a:ext cx="1958645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by lifestyle compatibility score — not budget alone</a:t>
            </a:r>
            <a:endParaRPr lang="en-US" sz="900" dirty="0"/>
          </a:p>
          <a:p>
            <a:pPr marL="101600" indent="-1016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roommate conflicts</a:t>
            </a:r>
            <a:endParaRPr lang="en-US" sz="900" dirty="0"/>
          </a:p>
          <a:p>
            <a:pPr marL="101600" indent="-1016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Safer, more comfortable living</a:t>
            </a:r>
            <a:endParaRPr lang="en-US" sz="900" dirty="0"/>
          </a:p>
          <a:p>
            <a:pPr marL="101600" indent="-1016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stressful, faster housing search</a:t>
            </a:r>
            <a:endParaRPr lang="en-US" sz="900" dirty="0"/>
          </a:p>
          <a:p>
            <a:pPr marL="101600" indent="-1016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students feel less isolated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1542" y="1298448"/>
            <a:ext cx="2196389" cy="1700784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9525">
            <a:solidFill>
              <a:srgbClr val="DFE9EC"/>
            </a:solidFill>
            <a:prstDash val="solid"/>
          </a:ln>
        </p:spPr>
        <p:txBody>
          <a:bodyPr/>
          <a:lstStyle/>
          <a:p>
            <a:endParaRPr lang="ru-DE"/>
          </a:p>
        </p:txBody>
      </p:sp>
      <p:sp>
        <p:nvSpPr>
          <p:cNvPr id="20" name="Text 18"/>
          <p:cNvSpPr/>
          <p:nvPr/>
        </p:nvSpPr>
        <p:spPr>
          <a:xfrm>
            <a:off x="7439558" y="1389888"/>
            <a:ext cx="19403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B5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RELATIONSHIPS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39558" y="1682496"/>
            <a:ext cx="1958645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profiles, reporting, blocking</a:t>
            </a:r>
            <a:endParaRPr lang="en-US" sz="900" dirty="0"/>
          </a:p>
          <a:p>
            <a:pPr marL="101600" indent="-1016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lifestyle quiz</a:t>
            </a:r>
            <a:endParaRPr lang="en-US" sz="900" dirty="0"/>
          </a:p>
          <a:p>
            <a:pPr marL="101600" indent="-1016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recommendations</a:t>
            </a:r>
            <a:endParaRPr lang="en-US" sz="900" dirty="0"/>
          </a:p>
          <a:p>
            <a:pPr marL="101600" indent="-1016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support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1542" y="3118104"/>
            <a:ext cx="2196389" cy="1700784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9525">
            <a:solidFill>
              <a:srgbClr val="DFE9EC"/>
            </a:solidFill>
            <a:prstDash val="solid"/>
          </a:ln>
        </p:spPr>
        <p:txBody>
          <a:bodyPr/>
          <a:lstStyle/>
          <a:p>
            <a:endParaRPr lang="ru-DE"/>
          </a:p>
        </p:txBody>
      </p:sp>
      <p:sp>
        <p:nvSpPr>
          <p:cNvPr id="23" name="Text 21"/>
          <p:cNvSpPr/>
          <p:nvPr/>
        </p:nvSpPr>
        <p:spPr>
          <a:xfrm>
            <a:off x="7439558" y="3209544"/>
            <a:ext cx="19403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B5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39558" y="3502152"/>
            <a:ext cx="1958645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/ mobile app</a:t>
            </a:r>
            <a:endParaRPr lang="en-US" sz="900" dirty="0"/>
          </a:p>
          <a:p>
            <a:pPr marL="101600" indent="-1016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networks</a:t>
            </a:r>
            <a:endParaRPr lang="en-US" sz="900" dirty="0"/>
          </a:p>
          <a:p>
            <a:pPr marL="101600" indent="-1016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platforms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626803" y="1298448"/>
            <a:ext cx="2196389" cy="3520440"/>
          </a:xfrm>
          <a:prstGeom prst="roundRect">
            <a:avLst>
              <a:gd name="adj" fmla="val 3747"/>
            </a:avLst>
          </a:prstGeom>
          <a:solidFill>
            <a:srgbClr val="FFFFFF"/>
          </a:solidFill>
          <a:ln w="9525">
            <a:solidFill>
              <a:srgbClr val="DFE9EC"/>
            </a:solidFill>
            <a:prstDash val="solid"/>
          </a:ln>
        </p:spPr>
        <p:txBody>
          <a:bodyPr/>
          <a:lstStyle/>
          <a:p>
            <a:endParaRPr lang="ru-DE"/>
          </a:p>
        </p:txBody>
      </p:sp>
      <p:sp>
        <p:nvSpPr>
          <p:cNvPr id="26" name="Text 24"/>
          <p:cNvSpPr/>
          <p:nvPr/>
        </p:nvSpPr>
        <p:spPr>
          <a:xfrm>
            <a:off x="9754819" y="1389888"/>
            <a:ext cx="19403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B5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SEGMENTS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754819" y="1682496"/>
            <a:ext cx="1958645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Primary: incoming university students</a:t>
            </a:r>
            <a:endParaRPr lang="en-US" sz="900" dirty="0"/>
          </a:p>
          <a:p>
            <a:pPr marL="101600" indent="-1016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Primary: international exchange students</a:t>
            </a:r>
            <a:endParaRPr lang="en-US" sz="900" dirty="0"/>
          </a:p>
          <a:p>
            <a:pPr marL="101600" indent="-1016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Secondary: students in shared apartments (WG)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4937760"/>
            <a:ext cx="5669280" cy="1664208"/>
          </a:xfrm>
          <a:prstGeom prst="roundRect">
            <a:avLst>
              <a:gd name="adj" fmla="val 4945"/>
            </a:avLst>
          </a:prstGeom>
          <a:solidFill>
            <a:srgbClr val="FFFFFF"/>
          </a:solidFill>
          <a:ln w="9525">
            <a:solidFill>
              <a:srgbClr val="DFE9EC"/>
            </a:solidFill>
            <a:prstDash val="solid"/>
          </a:ln>
        </p:spPr>
        <p:txBody>
          <a:bodyPr/>
          <a:lstStyle/>
          <a:p>
            <a:endParaRPr lang="ru-DE"/>
          </a:p>
        </p:txBody>
      </p:sp>
      <p:sp>
        <p:nvSpPr>
          <p:cNvPr id="29" name="Text 27"/>
          <p:cNvSpPr/>
          <p:nvPr/>
        </p:nvSpPr>
        <p:spPr>
          <a:xfrm>
            <a:off x="493776" y="5029200"/>
            <a:ext cx="5413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B5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STRUCTURE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" y="5321808"/>
            <a:ext cx="5431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&amp; website development, hosting and infrastructure</a:t>
            </a:r>
            <a:endParaRPr lang="en-US" sz="950" dirty="0"/>
          </a:p>
          <a:p>
            <a:pPr marL="101600" indent="-1016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Security, verification and privacy compliance</a:t>
            </a:r>
            <a:endParaRPr lang="en-US" sz="950" dirty="0"/>
          </a:p>
          <a:p>
            <a:pPr marL="101600" indent="-1016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Marketing, partnerships and operations</a:t>
            </a:r>
            <a:endParaRPr lang="en-US" sz="950" dirty="0"/>
          </a:p>
          <a:p>
            <a:pPr marL="101600" indent="-1016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support, moderation, legal &amp; compliance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53912" y="4937760"/>
            <a:ext cx="5669280" cy="1664208"/>
          </a:xfrm>
          <a:prstGeom prst="roundRect">
            <a:avLst>
              <a:gd name="adj" fmla="val 4945"/>
            </a:avLst>
          </a:prstGeom>
          <a:solidFill>
            <a:srgbClr val="FFFFFF"/>
          </a:solidFill>
          <a:ln w="9525">
            <a:solidFill>
              <a:srgbClr val="DFE9EC"/>
            </a:solidFill>
            <a:prstDash val="solid"/>
          </a:ln>
        </p:spPr>
        <p:txBody>
          <a:bodyPr/>
          <a:lstStyle/>
          <a:p>
            <a:endParaRPr lang="ru-DE"/>
          </a:p>
        </p:txBody>
      </p:sp>
      <p:sp>
        <p:nvSpPr>
          <p:cNvPr id="32" name="Text 30"/>
          <p:cNvSpPr/>
          <p:nvPr/>
        </p:nvSpPr>
        <p:spPr>
          <a:xfrm>
            <a:off x="6281928" y="5029200"/>
            <a:ext cx="5413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B5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81928" y="5321808"/>
            <a:ext cx="5431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basic matching (freemium entry point)</a:t>
            </a:r>
            <a:endParaRPr lang="en-US" sz="950" dirty="0"/>
          </a:p>
          <a:p>
            <a:pPr marL="101600" indent="-1016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subscription: boosts and advanced filters</a:t>
            </a:r>
            <a:endParaRPr lang="en-US" sz="950" dirty="0"/>
          </a:p>
          <a:p>
            <a:pPr marL="101600" indent="-1016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from verified housing providers</a:t>
            </a:r>
            <a:endParaRPr lang="en-US" sz="950" dirty="0"/>
          </a:p>
          <a:p>
            <a:pPr marL="101600" indent="-1016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Ads: furniture, moving services, student insurance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oomconnect/assets/dark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92608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0FA396"/>
          </a:solidFill>
          <a:ln/>
        </p:spPr>
        <p:txBody>
          <a:bodyPr/>
          <a:lstStyle/>
          <a:p>
            <a:endParaRPr lang="ru-DE"/>
          </a:p>
        </p:txBody>
      </p:sp>
      <p:sp>
        <p:nvSpPr>
          <p:cNvPr id="4" name="Text 1"/>
          <p:cNvSpPr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59536" y="2926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RoomConnect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201168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— the live website demo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2926080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BFE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RoomConnect journey, from verification to landlord approval.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591056" y="3977640"/>
            <a:ext cx="1234440" cy="475488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7FBFBC"/>
            </a:solidFill>
            <a:prstDash val="solid"/>
          </a:ln>
        </p:spPr>
        <p:txBody>
          <a:bodyPr/>
          <a:lstStyle/>
          <a:p>
            <a:endParaRPr lang="ru-DE"/>
          </a:p>
        </p:txBody>
      </p:sp>
      <p:sp>
        <p:nvSpPr>
          <p:cNvPr id="9" name="Text 6"/>
          <p:cNvSpPr/>
          <p:nvPr/>
        </p:nvSpPr>
        <p:spPr>
          <a:xfrm>
            <a:off x="1591056" y="397764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Verify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054096" y="3977640"/>
            <a:ext cx="1188720" cy="475488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7FBFBC"/>
            </a:solidFill>
            <a:prstDash val="solid"/>
          </a:ln>
        </p:spPr>
        <p:txBody>
          <a:bodyPr/>
          <a:lstStyle/>
          <a:p>
            <a:endParaRPr lang="ru-DE"/>
          </a:p>
        </p:txBody>
      </p:sp>
      <p:sp>
        <p:nvSpPr>
          <p:cNvPr id="11" name="Text 8"/>
          <p:cNvSpPr/>
          <p:nvPr/>
        </p:nvSpPr>
        <p:spPr>
          <a:xfrm>
            <a:off x="3054096" y="397764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Quiz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471416" y="397764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7FBFBC"/>
            </a:solidFill>
            <a:prstDash val="solid"/>
          </a:ln>
        </p:spPr>
        <p:txBody>
          <a:bodyPr/>
          <a:lstStyle/>
          <a:p>
            <a:endParaRPr lang="ru-DE"/>
          </a:p>
        </p:txBody>
      </p:sp>
      <p:sp>
        <p:nvSpPr>
          <p:cNvPr id="13" name="Text 10"/>
          <p:cNvSpPr/>
          <p:nvPr/>
        </p:nvSpPr>
        <p:spPr>
          <a:xfrm>
            <a:off x="4471416" y="397764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Accept match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37376" y="3977640"/>
            <a:ext cx="1783080" cy="475488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7FBFBC"/>
            </a:solidFill>
            <a:prstDash val="solid"/>
          </a:ln>
        </p:spPr>
        <p:txBody>
          <a:bodyPr/>
          <a:lstStyle/>
          <a:p>
            <a:endParaRPr lang="ru-DE"/>
          </a:p>
        </p:txBody>
      </p:sp>
      <p:sp>
        <p:nvSpPr>
          <p:cNvPr id="15" name="Text 12"/>
          <p:cNvSpPr/>
          <p:nvPr/>
        </p:nvSpPr>
        <p:spPr>
          <a:xfrm>
            <a:off x="6437376" y="397764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Choose room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449056" y="3977640"/>
            <a:ext cx="2148840" cy="475488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7FBFBC"/>
            </a:solidFill>
            <a:prstDash val="solid"/>
          </a:ln>
        </p:spPr>
        <p:txBody>
          <a:bodyPr/>
          <a:lstStyle/>
          <a:p>
            <a:endParaRPr lang="ru-DE"/>
          </a:p>
        </p:txBody>
      </p:sp>
      <p:sp>
        <p:nvSpPr>
          <p:cNvPr id="17" name="Text 14"/>
          <p:cNvSpPr/>
          <p:nvPr/>
        </p:nvSpPr>
        <p:spPr>
          <a:xfrm>
            <a:off x="8449056" y="397764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Landlord approval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22960" y="61264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C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RoomConnect  ·  Group 2  ·  Digital Business Models</a:t>
            </a:r>
            <a:endParaRPr lang="en-US" sz="1100" dirty="0"/>
          </a:p>
        </p:txBody>
      </p:sp>
      <p:sp>
        <p:nvSpPr>
          <p:cNvPr id="19" name="Прямоугольник 18">
            <a:hlinkClick r:id="rId4"/>
            <a:extLst>
              <a:ext uri="{FF2B5EF4-FFF2-40B4-BE49-F238E27FC236}">
                <a16:creationId xmlns:a16="http://schemas.microsoft.com/office/drawing/2014/main" id="{F94EB7C8-2595-ACB3-81CA-563B456AD42A}"/>
              </a:ext>
            </a:extLst>
          </p:cNvPr>
          <p:cNvSpPr/>
          <p:nvPr/>
        </p:nvSpPr>
        <p:spPr>
          <a:xfrm>
            <a:off x="1506148" y="933123"/>
            <a:ext cx="9091748" cy="49551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D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0FA396"/>
          </a:solidFill>
          <a:ln/>
        </p:spPr>
        <p:txBody>
          <a:bodyPr/>
          <a:lstStyle/>
          <a:p>
            <a:endParaRPr lang="ru-DE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59536" y="2926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RoomConnect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cost and revenue — Year 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Digital, mostly fixed costs — and a freemium revenue engine that grows with the network.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16824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B5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— YEAR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93392"/>
            <a:ext cx="2674620" cy="1554480"/>
          </a:xfrm>
          <a:prstGeom prst="roundRect">
            <a:avLst>
              <a:gd name="adj" fmla="val 5882"/>
            </a:avLst>
          </a:prstGeom>
          <a:solidFill>
            <a:srgbClr val="F1F9F9"/>
          </a:solidFill>
          <a:ln w="9525">
            <a:solidFill>
              <a:srgbClr val="DFE9EC"/>
            </a:solidFill>
            <a:prstDash val="solid"/>
          </a:ln>
        </p:spPr>
        <p:txBody>
          <a:bodyPr/>
          <a:lstStyle/>
          <a:p>
            <a:endParaRPr lang="ru-DE"/>
          </a:p>
        </p:txBody>
      </p:sp>
      <p:sp>
        <p:nvSpPr>
          <p:cNvPr id="9" name="Text 7"/>
          <p:cNvSpPr/>
          <p:nvPr/>
        </p:nvSpPr>
        <p:spPr>
          <a:xfrm>
            <a:off x="603504" y="2084832"/>
            <a:ext cx="2382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163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&amp; infrastructure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3504" y="2523744"/>
            <a:ext cx="24003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&amp; website: €12,000</a:t>
            </a:r>
            <a:endParaRPr lang="en-US" sz="950" dirty="0"/>
          </a:p>
          <a:p>
            <a:pPr marL="101600" indent="-1016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Hosting: €3,000</a:t>
            </a:r>
            <a:endParaRPr lang="en-US" sz="950" dirty="0"/>
          </a:p>
          <a:p>
            <a:pPr marL="101600" indent="-1016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algorithm: €2,000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68980" y="1993392"/>
            <a:ext cx="2674620" cy="1554480"/>
          </a:xfrm>
          <a:prstGeom prst="roundRect">
            <a:avLst>
              <a:gd name="adj" fmla="val 5882"/>
            </a:avLst>
          </a:prstGeom>
          <a:solidFill>
            <a:srgbClr val="F1F9F9"/>
          </a:solidFill>
          <a:ln w="9525">
            <a:solidFill>
              <a:srgbClr val="DFE9EC"/>
            </a:solidFill>
            <a:prstDash val="solid"/>
          </a:ln>
        </p:spPr>
        <p:txBody>
          <a:bodyPr/>
          <a:lstStyle/>
          <a:p>
            <a:endParaRPr lang="ru-DE"/>
          </a:p>
        </p:txBody>
      </p:sp>
      <p:sp>
        <p:nvSpPr>
          <p:cNvPr id="12" name="Text 10"/>
          <p:cNvSpPr/>
          <p:nvPr/>
        </p:nvSpPr>
        <p:spPr>
          <a:xfrm>
            <a:off x="3415284" y="2084832"/>
            <a:ext cx="2382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163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verification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15284" y="2523744"/>
            <a:ext cx="24003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system: €4,000</a:t>
            </a:r>
            <a:endParaRPr lang="en-US" sz="950" dirty="0"/>
          </a:p>
          <a:p>
            <a:pPr marL="101600" indent="-1016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 compliance: €2,000</a:t>
            </a:r>
            <a:endParaRPr lang="en-US" sz="950" dirty="0"/>
          </a:p>
          <a:p>
            <a:pPr marL="101600" indent="-1016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safety: €1,500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666744"/>
            <a:ext cx="2674620" cy="1554480"/>
          </a:xfrm>
          <a:prstGeom prst="roundRect">
            <a:avLst>
              <a:gd name="adj" fmla="val 5882"/>
            </a:avLst>
          </a:prstGeom>
          <a:solidFill>
            <a:srgbClr val="F1F9F9"/>
          </a:solidFill>
          <a:ln w="9525">
            <a:solidFill>
              <a:srgbClr val="DFE9EC"/>
            </a:solidFill>
            <a:prstDash val="solid"/>
          </a:ln>
        </p:spPr>
        <p:txBody>
          <a:bodyPr/>
          <a:lstStyle/>
          <a:p>
            <a:endParaRPr lang="ru-DE"/>
          </a:p>
        </p:txBody>
      </p:sp>
      <p:sp>
        <p:nvSpPr>
          <p:cNvPr id="15" name="Text 13"/>
          <p:cNvSpPr/>
          <p:nvPr/>
        </p:nvSpPr>
        <p:spPr>
          <a:xfrm>
            <a:off x="603504" y="3758184"/>
            <a:ext cx="2382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163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&amp; partnerships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" y="4197096"/>
            <a:ext cx="24003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channels: €3,000</a:t>
            </a:r>
            <a:endParaRPr lang="en-US" sz="950" dirty="0"/>
          </a:p>
          <a:p>
            <a:pPr marL="101600" indent="-1016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 outreach: €2,000</a:t>
            </a:r>
            <a:endParaRPr lang="en-US" sz="950" dirty="0"/>
          </a:p>
          <a:p>
            <a:pPr marL="101600" indent="-1016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media: €1,500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68980" y="3666744"/>
            <a:ext cx="2674620" cy="1554480"/>
          </a:xfrm>
          <a:prstGeom prst="roundRect">
            <a:avLst>
              <a:gd name="adj" fmla="val 5882"/>
            </a:avLst>
          </a:prstGeom>
          <a:solidFill>
            <a:srgbClr val="F1F9F9"/>
          </a:solidFill>
          <a:ln w="9525">
            <a:solidFill>
              <a:srgbClr val="DFE9EC"/>
            </a:solidFill>
            <a:prstDash val="solid"/>
          </a:ln>
        </p:spPr>
        <p:txBody>
          <a:bodyPr/>
          <a:lstStyle/>
          <a:p>
            <a:endParaRPr lang="ru-DE"/>
          </a:p>
        </p:txBody>
      </p:sp>
      <p:sp>
        <p:nvSpPr>
          <p:cNvPr id="18" name="Text 16"/>
          <p:cNvSpPr/>
          <p:nvPr/>
        </p:nvSpPr>
        <p:spPr>
          <a:xfrm>
            <a:off x="3415284" y="3758184"/>
            <a:ext cx="2382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163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&amp; support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15284" y="4197096"/>
            <a:ext cx="24003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support: €2,000</a:t>
            </a:r>
            <a:endParaRPr lang="en-US" sz="950" dirty="0"/>
          </a:p>
          <a:p>
            <a:pPr marL="101600" indent="-1016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Moderation: €1,500</a:t>
            </a:r>
            <a:endParaRPr lang="en-US" sz="950" dirty="0"/>
          </a:p>
          <a:p>
            <a:pPr marL="101600" indent="-1016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Legal: €1,500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5486400"/>
            <a:ext cx="5486400" cy="502920"/>
          </a:xfrm>
          <a:prstGeom prst="roundRect">
            <a:avLst>
              <a:gd name="adj" fmla="val 21818"/>
            </a:avLst>
          </a:prstGeom>
          <a:solidFill>
            <a:srgbClr val="16355C"/>
          </a:solidFill>
          <a:ln/>
        </p:spPr>
        <p:txBody>
          <a:bodyPr/>
          <a:lstStyle/>
          <a:p>
            <a:endParaRPr lang="ru-DE"/>
          </a:p>
        </p:txBody>
      </p:sp>
      <p:sp>
        <p:nvSpPr>
          <p:cNvPr id="21" name="Text 19"/>
          <p:cNvSpPr/>
          <p:nvPr/>
        </p:nvSpPr>
        <p:spPr>
          <a:xfrm>
            <a:off x="457200" y="54864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F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cost — Year 1:  </a:t>
            </a: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€36,000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45352" y="16824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B5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— YEAR 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45352" y="1993392"/>
            <a:ext cx="26746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FE9EC"/>
            </a:solidFill>
            <a:prstDash val="solid"/>
          </a:ln>
          <a:effectLst>
            <a:outerShdw blurRad="152400" dist="38100" dir="5400000" algn="bl" rotWithShape="0">
              <a:srgbClr val="9FB6BC">
                <a:alpha val="35000"/>
              </a:srgbClr>
            </a:outerShdw>
          </a:effectLst>
        </p:spPr>
        <p:txBody>
          <a:bodyPr/>
          <a:lstStyle/>
          <a:p>
            <a:endParaRPr lang="ru-DE"/>
          </a:p>
        </p:txBody>
      </p:sp>
      <p:sp>
        <p:nvSpPr>
          <p:cNvPr id="24" name="Text 22"/>
          <p:cNvSpPr/>
          <p:nvPr/>
        </p:nvSpPr>
        <p:spPr>
          <a:xfrm>
            <a:off x="6391656" y="2084832"/>
            <a:ext cx="2382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163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 base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91656" y="2523744"/>
            <a:ext cx="24003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matching for all verified students</a:t>
            </a:r>
            <a:endParaRPr lang="en-US" sz="950" dirty="0"/>
          </a:p>
          <a:p>
            <a:pPr marL="101600" indent="-1016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the network &amp; critical mass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057132" y="1993392"/>
            <a:ext cx="26746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0FA396"/>
            </a:solidFill>
            <a:prstDash val="solid"/>
          </a:ln>
          <a:effectLst>
            <a:outerShdw blurRad="152400" dist="38100" dir="5400000" algn="bl" rotWithShape="0">
              <a:srgbClr val="9FB6BC">
                <a:alpha val="35000"/>
              </a:srgbClr>
            </a:outerShdw>
          </a:effectLst>
        </p:spPr>
        <p:txBody>
          <a:bodyPr/>
          <a:lstStyle/>
          <a:p>
            <a:endParaRPr lang="ru-DE"/>
          </a:p>
        </p:txBody>
      </p:sp>
      <p:sp>
        <p:nvSpPr>
          <p:cNvPr id="27" name="Text 25"/>
          <p:cNvSpPr/>
          <p:nvPr/>
        </p:nvSpPr>
        <p:spPr>
          <a:xfrm>
            <a:off x="9203436" y="2084832"/>
            <a:ext cx="2382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163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— €5.99 / month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03436" y="2523744"/>
            <a:ext cx="24003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seen more: boost, priority visibility</a:t>
            </a:r>
            <a:endParaRPr lang="en-US" sz="950" dirty="0"/>
          </a:p>
          <a:p>
            <a:pPr marL="101600" indent="-1016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more: unlimited matches &amp; filters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45352" y="3666744"/>
            <a:ext cx="26746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FE9EC"/>
            </a:solidFill>
            <a:prstDash val="solid"/>
          </a:ln>
          <a:effectLst>
            <a:outerShdw blurRad="152400" dist="38100" dir="5400000" algn="bl" rotWithShape="0">
              <a:srgbClr val="9FB6BC">
                <a:alpha val="35000"/>
              </a:srgbClr>
            </a:outerShdw>
          </a:effectLst>
        </p:spPr>
        <p:txBody>
          <a:bodyPr/>
          <a:lstStyle/>
          <a:p>
            <a:endParaRPr lang="ru-DE"/>
          </a:p>
        </p:txBody>
      </p:sp>
      <p:sp>
        <p:nvSpPr>
          <p:cNvPr id="30" name="Text 28"/>
          <p:cNvSpPr/>
          <p:nvPr/>
        </p:nvSpPr>
        <p:spPr>
          <a:xfrm>
            <a:off x="6391656" y="3758184"/>
            <a:ext cx="2382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163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from landlords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91656" y="4197096"/>
            <a:ext cx="24003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group reserves a room</a:t>
            </a:r>
            <a:endParaRPr lang="en-US" sz="950" dirty="0"/>
          </a:p>
          <a:p>
            <a:pPr marL="101600" indent="-1016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risk → higher adoption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057132" y="3666744"/>
            <a:ext cx="26746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FE9EC"/>
            </a:solidFill>
            <a:prstDash val="solid"/>
          </a:ln>
          <a:effectLst>
            <a:outerShdw blurRad="152400" dist="38100" dir="5400000" algn="bl" rotWithShape="0">
              <a:srgbClr val="9FB6BC">
                <a:alpha val="35000"/>
              </a:srgbClr>
            </a:outerShdw>
          </a:effectLst>
        </p:spPr>
        <p:txBody>
          <a:bodyPr/>
          <a:lstStyle/>
          <a:p>
            <a:endParaRPr lang="ru-DE"/>
          </a:p>
        </p:txBody>
      </p:sp>
      <p:sp>
        <p:nvSpPr>
          <p:cNvPr id="33" name="Text 31"/>
          <p:cNvSpPr/>
          <p:nvPr/>
        </p:nvSpPr>
        <p:spPr>
          <a:xfrm>
            <a:off x="9203436" y="3758184"/>
            <a:ext cx="2382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163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 &amp; partnerships (secondary)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203436" y="4197096"/>
            <a:ext cx="24003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Furniture &amp; moving services</a:t>
            </a:r>
            <a:endParaRPr lang="en-US" sz="950" dirty="0"/>
          </a:p>
          <a:p>
            <a:pPr marL="101600" indent="-1016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2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insurance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45352" y="5486400"/>
            <a:ext cx="5486400" cy="502920"/>
          </a:xfrm>
          <a:prstGeom prst="roundRect">
            <a:avLst>
              <a:gd name="adj" fmla="val 21818"/>
            </a:avLst>
          </a:prstGeom>
          <a:solidFill>
            <a:srgbClr val="E4F5F2"/>
          </a:solidFill>
          <a:ln w="12700">
            <a:solidFill>
              <a:srgbClr val="0FA396"/>
            </a:solidFill>
            <a:prstDash val="solid"/>
          </a:ln>
        </p:spPr>
        <p:txBody>
          <a:bodyPr/>
          <a:lstStyle/>
          <a:p>
            <a:endParaRPr lang="ru-DE"/>
          </a:p>
        </p:txBody>
      </p:sp>
      <p:sp>
        <p:nvSpPr>
          <p:cNvPr id="36" name="Text 34"/>
          <p:cNvSpPr/>
          <p:nvPr/>
        </p:nvSpPr>
        <p:spPr>
          <a:xfrm>
            <a:off x="6245352" y="54864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B5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revenue:  </a:t>
            </a:r>
            <a:r>
              <a:rPr lang="en-US" sz="1250" b="1" dirty="0">
                <a:solidFill>
                  <a:srgbClr val="163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€2,000</a:t>
            </a:r>
            <a:r>
              <a:rPr lang="en-US" sz="1250" dirty="0">
                <a:solidFill>
                  <a:srgbClr val="0B5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r>
              <a:rPr lang="en-US" sz="1250" b="1" dirty="0">
                <a:solidFill>
                  <a:srgbClr val="163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€4,500</a:t>
            </a:r>
            <a:r>
              <a:rPr lang="en-US" sz="1250" dirty="0">
                <a:solidFill>
                  <a:srgbClr val="0B5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r>
              <a:rPr lang="en-US" sz="1250" b="1" dirty="0">
                <a:solidFill>
                  <a:srgbClr val="163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€7,500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F850E-AB65-1716-918E-BD77EE0AC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oomconnect/assets/dark_bg.jpg">
            <a:extLst>
              <a:ext uri="{FF2B5EF4-FFF2-40B4-BE49-F238E27FC236}">
                <a16:creationId xmlns:a16="http://schemas.microsoft.com/office/drawing/2014/main" id="{68CB0E56-6A7F-FA73-F2A0-96F942254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A9C905D3-0363-71E4-DC87-824CAC119B0F}"/>
              </a:ext>
            </a:extLst>
          </p:cNvPr>
          <p:cNvSpPr/>
          <p:nvPr/>
        </p:nvSpPr>
        <p:spPr>
          <a:xfrm>
            <a:off x="457200" y="292608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0FA396"/>
          </a:solidFill>
          <a:ln/>
        </p:spPr>
        <p:txBody>
          <a:bodyPr/>
          <a:lstStyle/>
          <a:p>
            <a:endParaRPr lang="ru-DE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496DFEB-384B-0802-8005-2C5FDAD7CA27}"/>
              </a:ext>
            </a:extLst>
          </p:cNvPr>
          <p:cNvSpPr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B95FE46-B3C3-B86B-3CD2-47016BB0F404}"/>
              </a:ext>
            </a:extLst>
          </p:cNvPr>
          <p:cNvSpPr/>
          <p:nvPr/>
        </p:nvSpPr>
        <p:spPr>
          <a:xfrm>
            <a:off x="859536" y="2926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RoomConnect</a:t>
            </a:r>
            <a:endParaRPr lang="en-US" sz="1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D54D7FE-9AD2-07A2-50FE-724C60398017}"/>
              </a:ext>
            </a:extLst>
          </p:cNvPr>
          <p:cNvSpPr/>
          <p:nvPr/>
        </p:nvSpPr>
        <p:spPr>
          <a:xfrm>
            <a:off x="457200" y="772668"/>
            <a:ext cx="19972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Duty</a:t>
            </a:r>
            <a:endParaRPr lang="en-US" sz="44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AD507038-C300-A7E9-7462-9A483A2B836D}"/>
              </a:ext>
            </a:extLst>
          </p:cNvPr>
          <p:cNvSpPr/>
          <p:nvPr/>
        </p:nvSpPr>
        <p:spPr>
          <a:xfrm>
            <a:off x="822960" y="61264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C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RoomConnect  ·  Group 2  ·  Digital Business Models  ·  SS 2026</a:t>
            </a:r>
            <a:endParaRPr lang="en-US" sz="1100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35FEC67-22B5-1CFD-55F1-6F595601A3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2679212"/>
              </p:ext>
            </p:extLst>
          </p:nvPr>
        </p:nvGraphicFramePr>
        <p:xfrm>
          <a:off x="859536" y="1825110"/>
          <a:ext cx="10430898" cy="4208328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596045">
                  <a:extLst>
                    <a:ext uri="{9D8B030D-6E8A-4147-A177-3AD203B41FA5}">
                      <a16:colId xmlns:a16="http://schemas.microsoft.com/office/drawing/2014/main" val="2750564054"/>
                    </a:ext>
                  </a:extLst>
                </a:gridCol>
                <a:gridCol w="7834853">
                  <a:extLst>
                    <a:ext uri="{9D8B030D-6E8A-4147-A177-3AD203B41FA5}">
                      <a16:colId xmlns:a16="http://schemas.microsoft.com/office/drawing/2014/main" val="2461599955"/>
                    </a:ext>
                  </a:extLst>
                </a:gridCol>
              </a:tblGrid>
              <a:tr h="584548">
                <a:tc>
                  <a:txBody>
                    <a:bodyPr/>
                    <a:lstStyle/>
                    <a:p>
                      <a:r>
                        <a:rPr lang="en-US" sz="2000" dirty="0"/>
                        <a:t>Member name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Business &amp; Website design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433263"/>
                  </a:ext>
                </a:extLst>
              </a:tr>
              <a:tr h="584548">
                <a:tc>
                  <a:txBody>
                    <a:bodyPr/>
                    <a:lstStyle/>
                    <a:p>
                      <a:r>
                        <a:rPr lang="en-US" sz="2000" dirty="0"/>
                        <a:t>Maria </a:t>
                      </a:r>
                      <a:r>
                        <a:rPr lang="en-US" sz="2000" kern="1200" dirty="0">
                          <a:effectLst/>
                        </a:rPr>
                        <a:t>Kulikova</a:t>
                      </a:r>
                      <a:endParaRPr lang="en-US" sz="2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About page, mobile adaptation, platform logic, brand style development</a:t>
                      </a:r>
                      <a:endParaRPr lang="en-US" sz="2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150775"/>
                  </a:ext>
                </a:extLst>
              </a:tr>
              <a:tr h="584548">
                <a:tc>
                  <a:txBody>
                    <a:bodyPr/>
                    <a:lstStyle/>
                    <a:p>
                      <a:r>
                        <a:rPr lang="en-US" sz="2000" dirty="0"/>
                        <a:t>Supreeya </a:t>
                      </a:r>
                      <a:r>
                        <a:rPr lang="en-US" sz="2000" kern="1200" dirty="0">
                          <a:effectLst/>
                        </a:rPr>
                        <a:t>Boriphonmongkol</a:t>
                      </a:r>
                      <a:endParaRPr lang="en-US" sz="2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Site framework, verification, Index page, Shared Dashboard page</a:t>
                      </a:r>
                      <a:endParaRPr lang="en-US" sz="2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993170"/>
                  </a:ext>
                </a:extLst>
              </a:tr>
              <a:tr h="5845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Godfred  Boateng</a:t>
                      </a:r>
                      <a:endParaRPr lang="en-US" sz="2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Trust &amp; Safety page, revenue model </a:t>
                      </a:r>
                      <a:endParaRPr lang="en-US" sz="2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088641"/>
                  </a:ext>
                </a:extLst>
              </a:tr>
              <a:tr h="584548">
                <a:tc>
                  <a:txBody>
                    <a:bodyPr/>
                    <a:lstStyle/>
                    <a:p>
                      <a:r>
                        <a:rPr lang="en-US" sz="2000" dirty="0"/>
                        <a:t>Juliet </a:t>
                      </a:r>
                      <a:r>
                        <a:rPr lang="en-US" sz="2000" kern="1200" dirty="0" err="1">
                          <a:effectLst/>
                        </a:rPr>
                        <a:t>Alufuo</a:t>
                      </a:r>
                      <a:endParaRPr lang="en-US" sz="2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Quiz logic &amp; page</a:t>
                      </a:r>
                      <a:endParaRPr lang="en-US" sz="2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746729"/>
                  </a:ext>
                </a:extLst>
              </a:tr>
              <a:tr h="5845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Kausar </a:t>
                      </a:r>
                      <a:r>
                        <a:rPr lang="en-US" sz="2000" kern="1200" dirty="0">
                          <a:effectLst/>
                        </a:rPr>
                        <a:t>Akther</a:t>
                      </a:r>
                      <a:endParaRPr lang="en-US" sz="2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Pricing page </a:t>
                      </a:r>
                      <a:endParaRPr lang="en-US" sz="2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409696"/>
                  </a:ext>
                </a:extLst>
              </a:tr>
              <a:tr h="584548">
                <a:tc>
                  <a:txBody>
                    <a:bodyPr/>
                    <a:lstStyle/>
                    <a:p>
                      <a:r>
                        <a:rPr lang="en-US" sz="2000" dirty="0"/>
                        <a:t>All team</a:t>
                      </a:r>
                      <a:endParaRPr lang="en-US" sz="2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Business model logic</a:t>
                      </a:r>
                      <a:endParaRPr lang="en-US" sz="2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398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1158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oomconnect/assets/dark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92608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0FA396"/>
          </a:solidFill>
          <a:ln/>
        </p:spPr>
        <p:txBody>
          <a:bodyPr/>
          <a:lstStyle/>
          <a:p>
            <a:endParaRPr lang="ru-DE"/>
          </a:p>
        </p:txBody>
      </p:sp>
      <p:sp>
        <p:nvSpPr>
          <p:cNvPr id="4" name="Text 1"/>
          <p:cNvSpPr/>
          <p:nvPr/>
        </p:nvSpPr>
        <p:spPr>
          <a:xfrm>
            <a:off x="457200" y="292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59536" y="2926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RoomConnect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214884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2011680" y="3246120"/>
            <a:ext cx="8165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BFE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safer and more transparent student housing network for Ingolstadt — where roommate and housing decisions are based on trust, compatibility, and mutual choice.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488436" y="4434840"/>
            <a:ext cx="1554480" cy="475488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7FBFBC"/>
            </a:solidFill>
            <a:prstDash val="solid"/>
          </a:ln>
        </p:spPr>
        <p:txBody>
          <a:bodyPr/>
          <a:lstStyle/>
          <a:p>
            <a:endParaRPr lang="ru-DE"/>
          </a:p>
        </p:txBody>
      </p:sp>
      <p:sp>
        <p:nvSpPr>
          <p:cNvPr id="9" name="Text 6"/>
          <p:cNvSpPr/>
          <p:nvPr/>
        </p:nvSpPr>
        <p:spPr>
          <a:xfrm>
            <a:off x="3488436" y="443484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317236" y="4434840"/>
            <a:ext cx="1554480" cy="475488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7FBFBC"/>
            </a:solidFill>
            <a:prstDash val="solid"/>
          </a:ln>
        </p:spPr>
        <p:txBody>
          <a:bodyPr/>
          <a:lstStyle/>
          <a:p>
            <a:endParaRPr lang="ru-DE"/>
          </a:p>
        </p:txBody>
      </p:sp>
      <p:sp>
        <p:nvSpPr>
          <p:cNvPr id="11" name="Text 8"/>
          <p:cNvSpPr/>
          <p:nvPr/>
        </p:nvSpPr>
        <p:spPr>
          <a:xfrm>
            <a:off x="5317236" y="443484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Compatible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146036" y="4434840"/>
            <a:ext cx="1554480" cy="475488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7FBFBC"/>
            </a:solidFill>
            <a:prstDash val="solid"/>
          </a:ln>
        </p:spPr>
        <p:txBody>
          <a:bodyPr/>
          <a:lstStyle/>
          <a:p>
            <a:endParaRPr lang="ru-DE"/>
          </a:p>
        </p:txBody>
      </p:sp>
      <p:sp>
        <p:nvSpPr>
          <p:cNvPr id="13" name="Text 10"/>
          <p:cNvSpPr/>
          <p:nvPr/>
        </p:nvSpPr>
        <p:spPr>
          <a:xfrm>
            <a:off x="7146036" y="443484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61264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C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RoomConnect  ·  Group 2  ·  Digital Business Models  ·  SS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846</Words>
  <Application>Microsoft Office PowerPoint</Application>
  <PresentationFormat>Widescreen</PresentationFormat>
  <Paragraphs>172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Supreeya Boriphonmongkol</cp:lastModifiedBy>
  <cp:revision>7</cp:revision>
  <dcterms:created xsi:type="dcterms:W3CDTF">2026-07-13T16:13:48Z</dcterms:created>
  <dcterms:modified xsi:type="dcterms:W3CDTF">2026-07-14T11:03:41Z</dcterms:modified>
</cp:coreProperties>
</file>